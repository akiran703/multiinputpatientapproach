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embeddedFontLst>
    <p:embeddedFont>
      <p:font typeface="Robot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750CD19-66BE-4F6D-9A85-4ECC8B46E639}">
  <a:tblStyle styleId="{5750CD19-66BE-4F6D-9A85-4ECC8B46E63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font" Target="fonts/Roboto-bold.fntdata"/><Relationship Id="rId10" Type="http://schemas.openxmlformats.org/officeDocument/2006/relationships/slide" Target="slides/slide4.xml"/><Relationship Id="rId21" Type="http://schemas.openxmlformats.org/officeDocument/2006/relationships/font" Target="fonts/Roboto-regular.fntdata"/><Relationship Id="rId13" Type="http://schemas.openxmlformats.org/officeDocument/2006/relationships/slide" Target="slides/slide7.xml"/><Relationship Id="rId24" Type="http://schemas.openxmlformats.org/officeDocument/2006/relationships/font" Target="fonts/Roboto-boldItalic.fntdata"/><Relationship Id="rId12" Type="http://schemas.openxmlformats.org/officeDocument/2006/relationships/slide" Target="slides/slide6.xml"/><Relationship Id="rId23" Type="http://schemas.openxmlformats.org/officeDocument/2006/relationships/font" Target="fonts/Robot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e62a68cf13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e62a68cf13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e62a68cf13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e62a68cf13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Better job of context(good place to explain our of instead of doing 16 individual predictions, we can to give a </a:t>
            </a:r>
            <a:r>
              <a:rPr lang="en"/>
              <a:t>clinical approach on the patient scale, optimize for a  image to have covid,not a patient having covid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e62a68cf13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e62a68cf13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Make sure to say not standard format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e62a68cf13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e62a68cf13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e62a68cf13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e62a68cf13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e62a68cf13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e62a68cf13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Say something alexnet(simple model)</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e62a68cf13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e62a68cf13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these networks</a:t>
            </a:r>
            <a:r>
              <a:rPr lang="en"/>
              <a:t> become deeper, vanishing/exploding(dont go super deep)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When we take the partial derivative of the error function with respect to the current weight in each iteration of training, </a:t>
            </a:r>
            <a:endParaRPr/>
          </a:p>
          <a:p>
            <a:pPr indent="0" lvl="0" marL="0" rtl="0" algn="l">
              <a:spcBef>
                <a:spcPts val="0"/>
              </a:spcBef>
              <a:spcAft>
                <a:spcPts val="0"/>
              </a:spcAft>
              <a:buNone/>
            </a:pPr>
            <a:r>
              <a:rPr lang="en"/>
              <a:t>It will multiply n of these small/large numbers to compute gradients of the front layers in a n-layer network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rgbClr val="292929"/>
                </a:solidFill>
                <a:highlight>
                  <a:srgbClr val="FFFFFF"/>
                </a:highlight>
              </a:rPr>
              <a:t>Even if there is vanishing gradient for the weight layers, we always still have the identity </a:t>
            </a:r>
            <a:r>
              <a:rPr i="1" lang="en">
                <a:solidFill>
                  <a:srgbClr val="292929"/>
                </a:solidFill>
                <a:highlight>
                  <a:srgbClr val="FFFFFF"/>
                </a:highlight>
              </a:rPr>
              <a:t>x</a:t>
            </a:r>
            <a:r>
              <a:rPr lang="en">
                <a:solidFill>
                  <a:srgbClr val="292929"/>
                </a:solidFill>
                <a:highlight>
                  <a:srgbClr val="FFFFFF"/>
                </a:highlight>
              </a:rPr>
              <a:t> to transfer back to earlier layers.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e62a68cf13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e62a68cf13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50">
                <a:solidFill>
                  <a:srgbClr val="595858"/>
                </a:solidFill>
                <a:highlight>
                  <a:srgbClr val="FFFFFF"/>
                </a:highlight>
                <a:latin typeface="Roboto"/>
                <a:ea typeface="Roboto"/>
                <a:cs typeface="Roboto"/>
                <a:sym typeface="Roboto"/>
              </a:rPr>
              <a:t>Suppose, for example, a layer in our deep learning model has learned to focus on individual parts of a face. The next layer of the network would probably focus on the overall face in the image to identify the different objects present there. Now to actually do this, the layer should have the appropriate filter sizes to detect different object</a:t>
            </a:r>
            <a:r>
              <a:rPr lang="en" sz="1150">
                <a:solidFill>
                  <a:srgbClr val="595858"/>
                </a:solidFill>
                <a:highlight>
                  <a:srgbClr val="FFFFFF"/>
                </a:highlight>
                <a:latin typeface="Roboto"/>
                <a:ea typeface="Roboto"/>
                <a:cs typeface="Roboto"/>
                <a:sym typeface="Roboto"/>
              </a:rPr>
              <a:t>s</a:t>
            </a:r>
            <a:endParaRPr sz="1150">
              <a:solidFill>
                <a:srgbClr val="595858"/>
              </a:solidFill>
              <a:highlight>
                <a:srgbClr val="FFFFFF"/>
              </a:highlight>
              <a:latin typeface="Roboto"/>
              <a:ea typeface="Roboto"/>
              <a:cs typeface="Roboto"/>
              <a:sym typeface="Roboto"/>
            </a:endParaRPr>
          </a:p>
          <a:p>
            <a:pPr indent="0" lvl="0" marL="0" rtl="0" algn="l">
              <a:lnSpc>
                <a:spcPct val="115000"/>
              </a:lnSpc>
              <a:spcBef>
                <a:spcPts val="1600"/>
              </a:spcBef>
              <a:spcAft>
                <a:spcPts val="0"/>
              </a:spcAft>
              <a:buNone/>
            </a:pPr>
            <a:r>
              <a:rPr lang="en" sz="1150">
                <a:solidFill>
                  <a:srgbClr val="595858"/>
                </a:solidFill>
                <a:highlight>
                  <a:srgbClr val="FFFFFF"/>
                </a:highlight>
                <a:latin typeface="Roboto"/>
                <a:ea typeface="Roboto"/>
                <a:cs typeface="Roboto"/>
                <a:sym typeface="Roboto"/>
              </a:rPr>
              <a:t>It allows the internal layers to pick and choose which filter size will be relevant to learn the required information. So even if the size of the face in the image is different (as seen in the images below), the layer works accordingly to recognize the face. For the first image, it would probably take a higher filter size, while it’ll take a lower one for the second image.</a:t>
            </a:r>
            <a:endParaRPr sz="1150">
              <a:solidFill>
                <a:srgbClr val="595858"/>
              </a:solidFill>
              <a:highlight>
                <a:srgbClr val="FFFFFF"/>
              </a:highlight>
              <a:latin typeface="Roboto"/>
              <a:ea typeface="Roboto"/>
              <a:cs typeface="Roboto"/>
              <a:sym typeface="Roboto"/>
            </a:endParaRPr>
          </a:p>
          <a:p>
            <a:pPr indent="0" lvl="0" marL="0" rtl="0" algn="l">
              <a:lnSpc>
                <a:spcPct val="115000"/>
              </a:lnSpc>
              <a:spcBef>
                <a:spcPts val="1600"/>
              </a:spcBef>
              <a:spcAft>
                <a:spcPts val="0"/>
              </a:spcAft>
              <a:buNone/>
            </a:pPr>
            <a:r>
              <a:rPr lang="en">
                <a:solidFill>
                  <a:schemeClr val="dk1"/>
                </a:solidFill>
              </a:rPr>
              <a:t>sa</a:t>
            </a:r>
            <a:endParaRPr>
              <a:solidFill>
                <a:schemeClr val="dk1"/>
              </a:solidFill>
            </a:endParaRPr>
          </a:p>
          <a:p>
            <a:pPr indent="0" lvl="0" marL="0" rtl="0" algn="l">
              <a:lnSpc>
                <a:spcPct val="115000"/>
              </a:lnSpc>
              <a:spcBef>
                <a:spcPts val="0"/>
              </a:spcBef>
              <a:spcAft>
                <a:spcPts val="1600"/>
              </a:spcAft>
              <a:buNone/>
            </a:pPr>
            <a:r>
              <a:t/>
            </a:r>
            <a:endParaRPr sz="1150">
              <a:solidFill>
                <a:srgbClr val="595858"/>
              </a:solidFill>
              <a:highlight>
                <a:srgbClr val="FFFFFF"/>
              </a:highlight>
              <a:latin typeface="Roboto"/>
              <a:ea typeface="Roboto"/>
              <a:cs typeface="Roboto"/>
              <a:sym typeface="Robo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e62a68cf13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e62a68cf13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Say for the other models are single, we want to patient by patient analysis so we take all their images and squeeze them through a network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e62a68cf13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e62a68cf13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Recall: find all positive examples </a:t>
            </a:r>
            <a:endParaRPr/>
          </a:p>
          <a:p>
            <a:pPr indent="0" lvl="0" marL="0" rtl="0" algn="l">
              <a:spcBef>
                <a:spcPts val="0"/>
              </a:spcBef>
              <a:spcAft>
                <a:spcPts val="0"/>
              </a:spcAft>
              <a:buNone/>
            </a:pPr>
            <a:r>
              <a:rPr lang="en"/>
              <a:t>F1: weighted mean between precision and recall </a:t>
            </a:r>
            <a:endParaRPr/>
          </a:p>
          <a:p>
            <a:pPr indent="0" lvl="0" marL="0" rtl="0" algn="l">
              <a:spcBef>
                <a:spcPts val="0"/>
              </a:spcBef>
              <a:spcAft>
                <a:spcPts val="0"/>
              </a:spcAft>
              <a:buNone/>
            </a:pPr>
            <a:r>
              <a:rPr lang="en"/>
              <a:t>Precision: the ability of the network to not label a image positive when actually it is negative</a:t>
            </a:r>
            <a:endParaRPr/>
          </a:p>
          <a:p>
            <a:pPr indent="0" lvl="0" marL="0" rtl="0" algn="l">
              <a:spcBef>
                <a:spcPts val="0"/>
              </a:spcBef>
              <a:spcAft>
                <a:spcPts val="0"/>
              </a:spcAft>
              <a:buNone/>
            </a:pPr>
            <a:r>
              <a:rPr lang="en"/>
              <a:t>Accuracy: the ratio of correctly </a:t>
            </a:r>
            <a:r>
              <a:rPr lang="en"/>
              <a:t>predicted</a:t>
            </a:r>
            <a:r>
              <a:rPr lang="en"/>
              <a:t> observations to the total observations</a:t>
            </a:r>
            <a:endParaRPr/>
          </a:p>
          <a:p>
            <a:pPr indent="0" lvl="0" marL="0" rtl="0" algn="l">
              <a:spcBef>
                <a:spcPts val="0"/>
              </a:spcBef>
              <a:spcAft>
                <a:spcPts val="0"/>
              </a:spcAft>
              <a:buNone/>
            </a:pPr>
            <a:r>
              <a:rPr lang="en"/>
              <a:t>Image by image alexnet , say closer to 1 is better, make sure to mention the transfer learning</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e62a68cf13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e62a68cf13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e62a68cf13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e62a68cf13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Explain what the 4 entries mean, we had 0 false negatives, we had false positives, no false negatives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e62a68cf13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e62a68cf13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gif"/><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COVID-19 Image Classification</a:t>
            </a:r>
            <a:endParaRPr/>
          </a:p>
          <a:p>
            <a:pPr indent="0" lvl="0" marL="0" rtl="0" algn="ctr">
              <a:spcBef>
                <a:spcPts val="0"/>
              </a:spcBef>
              <a:spcAft>
                <a:spcPts val="0"/>
              </a:spcAft>
              <a:buNone/>
            </a:pPr>
            <a:r>
              <a:rPr lang="en"/>
              <a:t>Patient-by-Patient A</a:t>
            </a:r>
            <a:r>
              <a:rPr lang="en"/>
              <a:t>pproach</a:t>
            </a:r>
            <a:r>
              <a:rPr lang="en"/>
              <a:t>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Kirankumar Ashokkumar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Table of Contents</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Our Goal</a:t>
            </a:r>
            <a:endParaRPr/>
          </a:p>
          <a:p>
            <a:pPr indent="-342900" lvl="0" marL="457200" rtl="0" algn="l">
              <a:spcBef>
                <a:spcPts val="0"/>
              </a:spcBef>
              <a:spcAft>
                <a:spcPts val="0"/>
              </a:spcAft>
              <a:buSzPts val="1800"/>
              <a:buChar char="●"/>
            </a:pPr>
            <a:r>
              <a:rPr lang="en"/>
              <a:t>Data</a:t>
            </a:r>
            <a:endParaRPr/>
          </a:p>
          <a:p>
            <a:pPr indent="-342900" lvl="0" marL="457200" rtl="0" algn="l">
              <a:spcBef>
                <a:spcPts val="0"/>
              </a:spcBef>
              <a:spcAft>
                <a:spcPts val="0"/>
              </a:spcAft>
              <a:buSzPts val="1800"/>
              <a:buChar char="●"/>
            </a:pPr>
            <a:r>
              <a:rPr lang="en"/>
              <a:t>Models</a:t>
            </a:r>
            <a:endParaRPr/>
          </a:p>
          <a:p>
            <a:pPr indent="-342900" lvl="0" marL="457200" rtl="0" algn="l">
              <a:spcBef>
                <a:spcPts val="0"/>
              </a:spcBef>
              <a:spcAft>
                <a:spcPts val="0"/>
              </a:spcAft>
              <a:buSzPts val="1800"/>
              <a:buChar char="●"/>
            </a:pPr>
            <a:r>
              <a:rPr lang="en"/>
              <a:t>Results</a:t>
            </a:r>
            <a:endParaRPr/>
          </a:p>
          <a:p>
            <a:pPr indent="-342900" lvl="0" marL="457200" rtl="0" algn="l">
              <a:spcBef>
                <a:spcPts val="0"/>
              </a:spcBef>
              <a:spcAft>
                <a:spcPts val="0"/>
              </a:spcAft>
              <a:buSzPts val="1800"/>
              <a:buChar char="●"/>
            </a:pPr>
            <a:r>
              <a:rPr lang="en"/>
              <a:t>Future </a:t>
            </a:r>
            <a:r>
              <a:rPr lang="en"/>
              <a:t>Endeavors</a:t>
            </a:r>
            <a:r>
              <a:rPr lang="en"/>
              <a:t> </a:t>
            </a:r>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Goal/Mission</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61950" lvl="0" marL="457200" rtl="0" algn="l">
              <a:spcBef>
                <a:spcPts val="0"/>
              </a:spcBef>
              <a:spcAft>
                <a:spcPts val="0"/>
              </a:spcAft>
              <a:buSzPts val="2100"/>
              <a:buChar char="●"/>
            </a:pPr>
            <a:r>
              <a:rPr lang="en" sz="2100"/>
              <a:t>Lack of resource</a:t>
            </a:r>
            <a:endParaRPr sz="2100"/>
          </a:p>
          <a:p>
            <a:pPr indent="-361950" lvl="0" marL="457200" rtl="0" algn="l">
              <a:spcBef>
                <a:spcPts val="0"/>
              </a:spcBef>
              <a:spcAft>
                <a:spcPts val="0"/>
              </a:spcAft>
              <a:buSzPts val="2100"/>
              <a:buChar char="●"/>
            </a:pPr>
            <a:r>
              <a:rPr lang="en" sz="2100"/>
              <a:t>Rapid Detection</a:t>
            </a:r>
            <a:endParaRPr sz="2100"/>
          </a:p>
          <a:p>
            <a:pPr indent="-361950" lvl="0" marL="457200" rtl="0" algn="l">
              <a:spcBef>
                <a:spcPts val="0"/>
              </a:spcBef>
              <a:spcAft>
                <a:spcPts val="0"/>
              </a:spcAft>
              <a:buSzPts val="2100"/>
              <a:buChar char="●"/>
            </a:pPr>
            <a:r>
              <a:rPr lang="en" sz="2100"/>
              <a:t>Modern methodology issues</a:t>
            </a:r>
            <a:endParaRPr sz="2100"/>
          </a:p>
          <a:p>
            <a:pPr indent="-361950" lvl="0" marL="457200" rtl="0" algn="l">
              <a:spcBef>
                <a:spcPts val="0"/>
              </a:spcBef>
              <a:spcAft>
                <a:spcPts val="0"/>
              </a:spcAft>
              <a:buSzPts val="2100"/>
              <a:buChar char="●"/>
            </a:pPr>
            <a:r>
              <a:rPr lang="en" sz="2100"/>
              <a:t>Emphasis on patient care</a:t>
            </a:r>
            <a:endParaRPr sz="2100"/>
          </a:p>
        </p:txBody>
      </p:sp>
      <p:pic>
        <p:nvPicPr>
          <p:cNvPr id="68" name="Google Shape;68;p15"/>
          <p:cNvPicPr preferRelativeResize="0"/>
          <p:nvPr/>
        </p:nvPicPr>
        <p:blipFill>
          <a:blip r:embed="rId3">
            <a:alphaModFix/>
          </a:blip>
          <a:stretch>
            <a:fillRect/>
          </a:stretch>
        </p:blipFill>
        <p:spPr>
          <a:xfrm>
            <a:off x="1109100" y="2877262"/>
            <a:ext cx="2644325" cy="2141925"/>
          </a:xfrm>
          <a:prstGeom prst="rect">
            <a:avLst/>
          </a:prstGeom>
          <a:noFill/>
          <a:ln>
            <a:noFill/>
          </a:ln>
        </p:spPr>
      </p:pic>
      <p:pic>
        <p:nvPicPr>
          <p:cNvPr id="69" name="Google Shape;69;p15"/>
          <p:cNvPicPr preferRelativeResize="0"/>
          <p:nvPr/>
        </p:nvPicPr>
        <p:blipFill>
          <a:blip r:embed="rId4">
            <a:alphaModFix/>
          </a:blip>
          <a:stretch>
            <a:fillRect/>
          </a:stretch>
        </p:blipFill>
        <p:spPr>
          <a:xfrm>
            <a:off x="5323175" y="615225"/>
            <a:ext cx="2925150" cy="39334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61950" lvl="0" marL="457200" rtl="0" algn="l">
              <a:spcBef>
                <a:spcPts val="0"/>
              </a:spcBef>
              <a:spcAft>
                <a:spcPts val="0"/>
              </a:spcAft>
              <a:buSzPts val="2100"/>
              <a:buChar char="●"/>
            </a:pPr>
            <a:r>
              <a:rPr lang="en" sz="2100"/>
              <a:t>COVID-CT dataset</a:t>
            </a:r>
            <a:endParaRPr sz="2100"/>
          </a:p>
          <a:p>
            <a:pPr indent="-349250" lvl="1" marL="914400" rtl="0" algn="l">
              <a:spcBef>
                <a:spcPts val="0"/>
              </a:spcBef>
              <a:spcAft>
                <a:spcPts val="0"/>
              </a:spcAft>
              <a:buSzPts val="1900"/>
              <a:buChar char="○"/>
            </a:pPr>
            <a:r>
              <a:rPr lang="en" sz="1900"/>
              <a:t>349 images from 216 patients </a:t>
            </a:r>
            <a:endParaRPr sz="1900"/>
          </a:p>
          <a:p>
            <a:pPr indent="-349250" lvl="1" marL="914400" rtl="0" algn="l">
              <a:spcBef>
                <a:spcPts val="0"/>
              </a:spcBef>
              <a:spcAft>
                <a:spcPts val="0"/>
              </a:spcAft>
              <a:buSzPts val="1900"/>
              <a:buChar char="○"/>
            </a:pPr>
            <a:r>
              <a:rPr lang="en" sz="1900"/>
              <a:t>Not the standard format dataset</a:t>
            </a:r>
            <a:endParaRPr sz="1900"/>
          </a:p>
          <a:p>
            <a:pPr indent="0" lvl="0" marL="0" rtl="0" algn="l">
              <a:spcBef>
                <a:spcPts val="1200"/>
              </a:spcBef>
              <a:spcAft>
                <a:spcPts val="0"/>
              </a:spcAft>
              <a:buNone/>
            </a:pPr>
            <a:r>
              <a:t/>
            </a:r>
            <a:endParaRPr sz="1900"/>
          </a:p>
          <a:p>
            <a:pPr indent="-361950" lvl="0" marL="457200" rtl="0" algn="l">
              <a:spcBef>
                <a:spcPts val="1200"/>
              </a:spcBef>
              <a:spcAft>
                <a:spcPts val="0"/>
              </a:spcAft>
              <a:buSzPts val="2100"/>
              <a:buChar char="●"/>
            </a:pPr>
            <a:r>
              <a:rPr lang="en" sz="2100"/>
              <a:t>SARS-CoV-2 CT-scan dataset</a:t>
            </a:r>
            <a:endParaRPr sz="2100"/>
          </a:p>
          <a:p>
            <a:pPr indent="-349250" lvl="1" marL="914400" rtl="0" algn="l">
              <a:spcBef>
                <a:spcPts val="0"/>
              </a:spcBef>
              <a:spcAft>
                <a:spcPts val="0"/>
              </a:spcAft>
              <a:buSzPts val="1900"/>
              <a:buChar char="○"/>
            </a:pPr>
            <a:r>
              <a:rPr lang="en" sz="1900"/>
              <a:t>2482 CT scans from 120 patients </a:t>
            </a:r>
            <a:endParaRPr sz="1900"/>
          </a:p>
          <a:p>
            <a:pPr indent="-349250" lvl="1" marL="914400" rtl="0" algn="l">
              <a:spcBef>
                <a:spcPts val="0"/>
              </a:spcBef>
              <a:spcAft>
                <a:spcPts val="0"/>
              </a:spcAft>
              <a:buSzPts val="1900"/>
              <a:buChar char="○"/>
            </a:pPr>
            <a:r>
              <a:rPr lang="en" sz="1900"/>
              <a:t>1252 CT scans from 60 infected patients</a:t>
            </a:r>
            <a:endParaRPr sz="1900"/>
          </a:p>
          <a:p>
            <a:pPr indent="-349250" lvl="1" marL="914400" rtl="0" algn="l">
              <a:spcBef>
                <a:spcPts val="0"/>
              </a:spcBef>
              <a:spcAft>
                <a:spcPts val="0"/>
              </a:spcAft>
              <a:buSzPts val="1900"/>
              <a:buChar char="○"/>
            </a:pPr>
            <a:r>
              <a:rPr lang="en" sz="1900"/>
              <a:t>1230 CT scans from 60 infected patients</a:t>
            </a:r>
            <a:endParaRPr sz="19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1921725" y="3381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COVID CT scan examples</a:t>
            </a:r>
            <a:endParaRPr/>
          </a:p>
        </p:txBody>
      </p:sp>
      <p:pic>
        <p:nvPicPr>
          <p:cNvPr id="81" name="Google Shape;81;p17"/>
          <p:cNvPicPr preferRelativeResize="0"/>
          <p:nvPr/>
        </p:nvPicPr>
        <p:blipFill>
          <a:blip r:embed="rId3">
            <a:alphaModFix/>
          </a:blip>
          <a:stretch>
            <a:fillRect/>
          </a:stretch>
        </p:blipFill>
        <p:spPr>
          <a:xfrm>
            <a:off x="574850" y="910800"/>
            <a:ext cx="7490249" cy="38209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2083825" y="369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SARS-CoV-2 CT scan</a:t>
            </a:r>
            <a:endParaRPr/>
          </a:p>
        </p:txBody>
      </p:sp>
      <p:pic>
        <p:nvPicPr>
          <p:cNvPr id="87" name="Google Shape;87;p18"/>
          <p:cNvPicPr preferRelativeResize="0"/>
          <p:nvPr/>
        </p:nvPicPr>
        <p:blipFill>
          <a:blip r:embed="rId3">
            <a:alphaModFix/>
          </a:blip>
          <a:stretch>
            <a:fillRect/>
          </a:stretch>
        </p:blipFill>
        <p:spPr>
          <a:xfrm>
            <a:off x="487400" y="1017725"/>
            <a:ext cx="6923327" cy="38209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2771150" y="3776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Models</a:t>
            </a:r>
            <a:endParaRPr/>
          </a:p>
        </p:txBody>
      </p:sp>
      <p:sp>
        <p:nvSpPr>
          <p:cNvPr id="93" name="Google Shape;93;p19"/>
          <p:cNvSpPr txBox="1"/>
          <p:nvPr>
            <p:ph idx="1" type="body"/>
          </p:nvPr>
        </p:nvSpPr>
        <p:spPr>
          <a:xfrm>
            <a:off x="311700" y="1024875"/>
            <a:ext cx="8520600" cy="34164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rPr lang="en" sz="2100"/>
              <a:t>	Image-by-Image (</a:t>
            </a:r>
            <a:r>
              <a:rPr lang="en" sz="2100"/>
              <a:t>strictly s</a:t>
            </a:r>
            <a:r>
              <a:rPr lang="en" sz="2100"/>
              <a:t>ingle input)</a:t>
            </a:r>
            <a:endParaRPr sz="2100"/>
          </a:p>
          <a:p>
            <a:pPr indent="-311943" lvl="0" marL="457200" rtl="0" algn="l">
              <a:spcBef>
                <a:spcPts val="1200"/>
              </a:spcBef>
              <a:spcAft>
                <a:spcPts val="0"/>
              </a:spcAft>
              <a:buSzPct val="100000"/>
              <a:buChar char="●"/>
            </a:pPr>
            <a:r>
              <a:rPr lang="en" sz="2100"/>
              <a:t>AlexNet </a:t>
            </a:r>
            <a:endParaRPr sz="2100"/>
          </a:p>
          <a:p>
            <a:pPr indent="-311943" lvl="0" marL="457200" rtl="0" algn="l">
              <a:spcBef>
                <a:spcPts val="0"/>
              </a:spcBef>
              <a:spcAft>
                <a:spcPts val="0"/>
              </a:spcAft>
              <a:buSzPct val="100000"/>
              <a:buChar char="●"/>
            </a:pPr>
            <a:r>
              <a:rPr lang="en" sz="2100"/>
              <a:t>ResNet 50 </a:t>
            </a:r>
            <a:endParaRPr sz="2100"/>
          </a:p>
          <a:p>
            <a:pPr indent="-311943" lvl="0" marL="457200" rtl="0" algn="l">
              <a:spcBef>
                <a:spcPts val="0"/>
              </a:spcBef>
              <a:spcAft>
                <a:spcPts val="0"/>
              </a:spcAft>
              <a:buSzPct val="100000"/>
              <a:buChar char="●"/>
            </a:pPr>
            <a:r>
              <a:rPr lang="en" sz="2100"/>
              <a:t>ResNet 152 </a:t>
            </a:r>
            <a:endParaRPr sz="2100"/>
          </a:p>
          <a:p>
            <a:pPr indent="-311943" lvl="0" marL="457200" rtl="0" algn="l">
              <a:spcBef>
                <a:spcPts val="0"/>
              </a:spcBef>
              <a:spcAft>
                <a:spcPts val="0"/>
              </a:spcAft>
              <a:buSzPct val="100000"/>
              <a:buChar char="●"/>
            </a:pPr>
            <a:r>
              <a:rPr lang="en" sz="2100"/>
              <a:t>Inception</a:t>
            </a:r>
            <a:endParaRPr sz="2100"/>
          </a:p>
          <a:p>
            <a:pPr indent="0" lvl="0" marL="0" rtl="0" algn="l">
              <a:spcBef>
                <a:spcPts val="1200"/>
              </a:spcBef>
              <a:spcAft>
                <a:spcPts val="0"/>
              </a:spcAft>
              <a:buNone/>
            </a:pPr>
            <a:r>
              <a:rPr lang="en" sz="2100"/>
              <a:t>	Patient by Patient </a:t>
            </a:r>
            <a:endParaRPr sz="2100"/>
          </a:p>
          <a:p>
            <a:pPr indent="-311943" lvl="0" marL="457200" rtl="0" algn="l">
              <a:spcBef>
                <a:spcPts val="1200"/>
              </a:spcBef>
              <a:spcAft>
                <a:spcPts val="0"/>
              </a:spcAft>
              <a:buSzPct val="100000"/>
              <a:buChar char="●"/>
            </a:pPr>
            <a:r>
              <a:rPr lang="en" sz="2100"/>
              <a:t>Prediction model based on AlexNet with majority voting</a:t>
            </a:r>
            <a:endParaRPr sz="2100"/>
          </a:p>
          <a:p>
            <a:pPr indent="-311943" lvl="0" marL="457200" rtl="0" algn="l">
              <a:spcBef>
                <a:spcPts val="0"/>
              </a:spcBef>
              <a:spcAft>
                <a:spcPts val="0"/>
              </a:spcAft>
              <a:buSzPct val="100000"/>
              <a:buChar char="●"/>
            </a:pPr>
            <a:r>
              <a:rPr lang="en" sz="2100"/>
              <a:t>Prediction model based on AlexNet with averaging the prediction of each scan per patient</a:t>
            </a:r>
            <a:endParaRPr sz="2100"/>
          </a:p>
          <a:p>
            <a:pPr indent="-311943" lvl="0" marL="457200" rtl="0" algn="l">
              <a:spcBef>
                <a:spcPts val="0"/>
              </a:spcBef>
              <a:spcAft>
                <a:spcPts val="0"/>
              </a:spcAft>
              <a:buSzPct val="100000"/>
              <a:buChar char="●"/>
            </a:pPr>
            <a:r>
              <a:rPr lang="en" sz="2100"/>
              <a:t>Multi-input  based on  ResNet 50</a:t>
            </a:r>
            <a:endParaRPr sz="2100"/>
          </a:p>
          <a:p>
            <a:pPr indent="-311943" lvl="0" marL="457200" rtl="0" algn="l">
              <a:spcBef>
                <a:spcPts val="0"/>
              </a:spcBef>
              <a:spcAft>
                <a:spcPts val="0"/>
              </a:spcAft>
              <a:buSzPct val="100000"/>
              <a:buChar char="●"/>
            </a:pPr>
            <a:r>
              <a:rPr lang="en" sz="2100"/>
              <a:t>Multi-input based on  AlexNet </a:t>
            </a:r>
            <a:endParaRPr sz="2100"/>
          </a:p>
          <a:p>
            <a:pPr indent="0" lvl="0" marL="457200" rtl="0" algn="l">
              <a:spcBef>
                <a:spcPts val="1200"/>
              </a:spcBef>
              <a:spcAft>
                <a:spcPts val="0"/>
              </a:spcAft>
              <a:buNone/>
            </a:pPr>
            <a:r>
              <a:t/>
            </a:r>
            <a:endParaRPr sz="2100"/>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2599150" y="1761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ResNet 50/152 Model</a:t>
            </a:r>
            <a:endParaRPr/>
          </a:p>
        </p:txBody>
      </p:sp>
      <p:pic>
        <p:nvPicPr>
          <p:cNvPr id="99" name="Google Shape;99;p20"/>
          <p:cNvPicPr preferRelativeResize="0"/>
          <p:nvPr/>
        </p:nvPicPr>
        <p:blipFill>
          <a:blip r:embed="rId3">
            <a:alphaModFix/>
          </a:blip>
          <a:stretch>
            <a:fillRect/>
          </a:stretch>
        </p:blipFill>
        <p:spPr>
          <a:xfrm>
            <a:off x="808575" y="793950"/>
            <a:ext cx="7689698" cy="1564375"/>
          </a:xfrm>
          <a:prstGeom prst="rect">
            <a:avLst/>
          </a:prstGeom>
          <a:noFill/>
          <a:ln>
            <a:noFill/>
          </a:ln>
        </p:spPr>
      </p:pic>
      <p:pic>
        <p:nvPicPr>
          <p:cNvPr id="100" name="Google Shape;100;p20"/>
          <p:cNvPicPr preferRelativeResize="0"/>
          <p:nvPr/>
        </p:nvPicPr>
        <p:blipFill>
          <a:blip r:embed="rId4">
            <a:alphaModFix/>
          </a:blip>
          <a:stretch>
            <a:fillRect/>
          </a:stretch>
        </p:blipFill>
        <p:spPr>
          <a:xfrm>
            <a:off x="2001425" y="2465800"/>
            <a:ext cx="3974372" cy="21883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Inception Model</a:t>
            </a:r>
            <a:endParaRPr/>
          </a:p>
        </p:txBody>
      </p:sp>
      <p:pic>
        <p:nvPicPr>
          <p:cNvPr id="106" name="Google Shape;106;p21"/>
          <p:cNvPicPr preferRelativeResize="0"/>
          <p:nvPr/>
        </p:nvPicPr>
        <p:blipFill>
          <a:blip r:embed="rId3">
            <a:alphaModFix/>
          </a:blip>
          <a:stretch>
            <a:fillRect/>
          </a:stretch>
        </p:blipFill>
        <p:spPr>
          <a:xfrm>
            <a:off x="365775" y="2380485"/>
            <a:ext cx="4539575" cy="2190265"/>
          </a:xfrm>
          <a:prstGeom prst="rect">
            <a:avLst/>
          </a:prstGeom>
          <a:noFill/>
          <a:ln>
            <a:noFill/>
          </a:ln>
        </p:spPr>
      </p:pic>
      <p:pic>
        <p:nvPicPr>
          <p:cNvPr id="107" name="Google Shape;107;p21"/>
          <p:cNvPicPr preferRelativeResize="0"/>
          <p:nvPr/>
        </p:nvPicPr>
        <p:blipFill>
          <a:blip r:embed="rId4">
            <a:alphaModFix/>
          </a:blip>
          <a:stretch>
            <a:fillRect/>
          </a:stretch>
        </p:blipFill>
        <p:spPr>
          <a:xfrm>
            <a:off x="4116811" y="647175"/>
            <a:ext cx="4539564" cy="15604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Multi-input</a:t>
            </a:r>
            <a:endParaRPr/>
          </a:p>
        </p:txBody>
      </p:sp>
      <p:pic>
        <p:nvPicPr>
          <p:cNvPr id="113" name="Google Shape;113;p22"/>
          <p:cNvPicPr preferRelativeResize="0"/>
          <p:nvPr/>
        </p:nvPicPr>
        <p:blipFill>
          <a:blip r:embed="rId3">
            <a:alphaModFix/>
          </a:blip>
          <a:stretch>
            <a:fillRect/>
          </a:stretch>
        </p:blipFill>
        <p:spPr>
          <a:xfrm>
            <a:off x="2393613" y="1017713"/>
            <a:ext cx="3840176" cy="38209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 for Image-by-image</a:t>
            </a:r>
            <a:endParaRPr/>
          </a:p>
        </p:txBody>
      </p:sp>
      <p:graphicFrame>
        <p:nvGraphicFramePr>
          <p:cNvPr id="119" name="Google Shape;119;p23"/>
          <p:cNvGraphicFramePr/>
          <p:nvPr/>
        </p:nvGraphicFramePr>
        <p:xfrm>
          <a:off x="491400" y="1643775"/>
          <a:ext cx="3000000" cy="3000000"/>
        </p:xfrm>
        <a:graphic>
          <a:graphicData uri="http://schemas.openxmlformats.org/drawingml/2006/table">
            <a:tbl>
              <a:tblPr>
                <a:noFill/>
                <a:tableStyleId>{5750CD19-66BE-4F6D-9A85-4ECC8B46E639}</a:tableStyleId>
              </a:tblPr>
              <a:tblGrid>
                <a:gridCol w="1447800"/>
                <a:gridCol w="1447800"/>
                <a:gridCol w="1447800"/>
                <a:gridCol w="1447800"/>
                <a:gridCol w="1447800"/>
              </a:tblGrid>
              <a:tr h="381000">
                <a:tc>
                  <a:txBody>
                    <a:bodyPr/>
                    <a:lstStyle/>
                    <a:p>
                      <a:pPr indent="0" lvl="0" marL="0" rtl="0" algn="l">
                        <a:spcBef>
                          <a:spcPts val="0"/>
                        </a:spcBef>
                        <a:spcAft>
                          <a:spcPts val="0"/>
                        </a:spcAft>
                        <a:buNone/>
                      </a:pPr>
                      <a:r>
                        <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Accuracy</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F1-Score</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Precision</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Recall</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solidFill>
                            <a:schemeClr val="dk1"/>
                          </a:solidFill>
                        </a:rPr>
                        <a:t>ResNet 50</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0.89</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0.89</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0.89</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0.89</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solidFill>
                            <a:schemeClr val="dk1"/>
                          </a:solidFill>
                        </a:rPr>
                        <a:t>ResNet 152</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0.92</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0.922</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0.92</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0.92</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solidFill>
                            <a:schemeClr val="dk1"/>
                          </a:solidFill>
                        </a:rPr>
                        <a:t>Inception</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0.91</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0.91</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0.91</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0.91</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solidFill>
                            <a:srgbClr val="FFFFFF"/>
                          </a:solidFill>
                        </a:rPr>
                        <a:t>Alexnet</a:t>
                      </a:r>
                      <a:endParaRPr>
                        <a:solidFill>
                          <a:srgbClr val="FFFFFF"/>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a:solidFill>
                            <a:srgbClr val="FFFFFF"/>
                          </a:solidFill>
                        </a:rPr>
                        <a:t>0.90</a:t>
                      </a:r>
                      <a:endParaRPr>
                        <a:solidFill>
                          <a:srgbClr val="FFFFFF"/>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a:solidFill>
                            <a:srgbClr val="FFFFFF"/>
                          </a:solidFill>
                        </a:rPr>
                        <a:t>0.90</a:t>
                      </a:r>
                      <a:endParaRPr>
                        <a:solidFill>
                          <a:srgbClr val="FFFFFF"/>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a:solidFill>
                            <a:srgbClr val="FFFFFF"/>
                          </a:solidFill>
                        </a:rPr>
                        <a:t>0.90</a:t>
                      </a:r>
                      <a:endParaRPr>
                        <a:solidFill>
                          <a:srgbClr val="FFFFFF"/>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a:solidFill>
                            <a:srgbClr val="FFFFFF"/>
                          </a:solidFill>
                        </a:rPr>
                        <a:t>0.90</a:t>
                      </a:r>
                      <a:endParaRPr>
                        <a:solidFill>
                          <a:srgbClr val="FFFFFF"/>
                        </a:solidFill>
                      </a:endParaRPr>
                    </a:p>
                  </a:txBody>
                  <a:tcPr marT="91425" marB="91425" marR="91425" marL="91425">
                    <a:lnT cap="flat" cmpd="sng" w="9525">
                      <a:solidFill>
                        <a:srgbClr val="9E9E9E"/>
                      </a:solidFill>
                      <a:prstDash val="solid"/>
                      <a:round/>
                      <a:headEnd len="sm" w="sm" type="none"/>
                      <a:tailEnd len="sm" w="sm" type="none"/>
                    </a:lnT>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4"/>
          <p:cNvSpPr txBox="1"/>
          <p:nvPr>
            <p:ph type="title"/>
          </p:nvPr>
        </p:nvSpPr>
        <p:spPr>
          <a:xfrm>
            <a:off x="2681325" y="4225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Patient-by-Patient approach</a:t>
            </a:r>
            <a:endParaRPr/>
          </a:p>
        </p:txBody>
      </p:sp>
      <p:graphicFrame>
        <p:nvGraphicFramePr>
          <p:cNvPr id="125" name="Google Shape;125;p24"/>
          <p:cNvGraphicFramePr/>
          <p:nvPr/>
        </p:nvGraphicFramePr>
        <p:xfrm>
          <a:off x="831050" y="1543913"/>
          <a:ext cx="3000000" cy="3000000"/>
        </p:xfrm>
        <a:graphic>
          <a:graphicData uri="http://schemas.openxmlformats.org/drawingml/2006/table">
            <a:tbl>
              <a:tblPr>
                <a:noFill/>
                <a:tableStyleId>{5750CD19-66BE-4F6D-9A85-4ECC8B46E639}</a:tableStyleId>
              </a:tblPr>
              <a:tblGrid>
                <a:gridCol w="1447800"/>
                <a:gridCol w="1447800"/>
                <a:gridCol w="1447800"/>
                <a:gridCol w="1447800"/>
                <a:gridCol w="1447800"/>
              </a:tblGrid>
              <a:tr h="470825">
                <a:tc>
                  <a:txBody>
                    <a:bodyPr/>
                    <a:lstStyle/>
                    <a:p>
                      <a:pPr indent="0" lvl="0" marL="0" rtl="0" algn="l">
                        <a:spcBef>
                          <a:spcPts val="0"/>
                        </a:spcBef>
                        <a:spcAft>
                          <a:spcPts val="0"/>
                        </a:spcAft>
                        <a:buNone/>
                      </a:pPr>
                      <a:r>
                        <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solidFill>
                            <a:schemeClr val="dk1"/>
                          </a:solidFill>
                        </a:rPr>
                        <a:t>Accuracy</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F1-score</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Precision</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Recall</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solidFill>
                            <a:schemeClr val="dk1"/>
                          </a:solidFill>
                        </a:rPr>
                        <a:t>Predi-alex-vote</a:t>
                      </a:r>
                      <a:endParaRPr>
                        <a:solidFill>
                          <a:schemeClr val="dk1"/>
                        </a:solidFill>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0.91</a:t>
                      </a:r>
                      <a:endParaRPr>
                        <a:solidFill>
                          <a:schemeClr val="dk1"/>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a:solidFill>
                            <a:schemeClr val="dk1"/>
                          </a:solidFill>
                        </a:rPr>
                        <a:t>0.91</a:t>
                      </a:r>
                      <a:endParaRPr>
                        <a:solidFill>
                          <a:schemeClr val="dk1"/>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a:solidFill>
                            <a:schemeClr val="dk1"/>
                          </a:solidFill>
                        </a:rPr>
                        <a:t>0.92</a:t>
                      </a:r>
                      <a:endParaRPr>
                        <a:solidFill>
                          <a:schemeClr val="dk1"/>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a:solidFill>
                            <a:schemeClr val="dk1"/>
                          </a:solidFill>
                        </a:rPr>
                        <a:t>0.91</a:t>
                      </a:r>
                      <a:endParaRPr>
                        <a:solidFill>
                          <a:schemeClr val="dk1"/>
                        </a:solidFill>
                      </a:endParaRPr>
                    </a:p>
                  </a:txBody>
                  <a:tcPr marT="91425" marB="91425" marR="91425" marL="91425">
                    <a:lnT cap="flat" cmpd="sng" w="9525">
                      <a:solidFill>
                        <a:srgbClr val="9E9E9E"/>
                      </a:solidFill>
                      <a:prstDash val="solid"/>
                      <a:round/>
                      <a:headEnd len="sm" w="sm" type="none"/>
                      <a:tailEnd len="sm" w="sm" type="none"/>
                    </a:lnT>
                  </a:tcPr>
                </a:tc>
              </a:tr>
              <a:tr h="381000">
                <a:tc>
                  <a:txBody>
                    <a:bodyPr/>
                    <a:lstStyle/>
                    <a:p>
                      <a:pPr indent="0" lvl="0" marL="0" rtl="0" algn="l">
                        <a:spcBef>
                          <a:spcPts val="0"/>
                        </a:spcBef>
                        <a:spcAft>
                          <a:spcPts val="0"/>
                        </a:spcAft>
                        <a:buNone/>
                      </a:pPr>
                      <a:r>
                        <a:rPr lang="en">
                          <a:solidFill>
                            <a:schemeClr val="dk1"/>
                          </a:solidFill>
                        </a:rPr>
                        <a:t>m-alex-4</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0.58</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
                          <a:solidFill>
                            <a:schemeClr val="dk1"/>
                          </a:solidFill>
                        </a:rPr>
                        <a:t>0.48</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0.55</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0.58</a:t>
                      </a:r>
                      <a:endParaRPr>
                        <a:solidFill>
                          <a:schemeClr val="dk1"/>
                        </a:solidFill>
                      </a:endParaRPr>
                    </a:p>
                  </a:txBody>
                  <a:tcPr marT="91425" marB="91425" marR="91425" marL="91425"/>
                </a:tc>
              </a:tr>
              <a:tr h="381000">
                <a:tc>
                  <a:txBody>
                    <a:bodyPr/>
                    <a:lstStyle/>
                    <a:p>
                      <a:pPr indent="0" lvl="0" marL="0" rtl="0" algn="l">
                        <a:spcBef>
                          <a:spcPts val="0"/>
                        </a:spcBef>
                        <a:spcAft>
                          <a:spcPts val="0"/>
                        </a:spcAft>
                        <a:buNone/>
                      </a:pPr>
                      <a:r>
                        <a:rPr lang="en">
                          <a:solidFill>
                            <a:schemeClr val="dk1"/>
                          </a:solidFill>
                        </a:rPr>
                        <a:t>m-alex-7</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0.62</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
                          <a:solidFill>
                            <a:schemeClr val="dk1"/>
                          </a:solidFill>
                        </a:rPr>
                        <a:t>0.50</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0.42</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0.62</a:t>
                      </a:r>
                      <a:endParaRPr>
                        <a:solidFill>
                          <a:schemeClr val="dk1"/>
                        </a:solidFill>
                      </a:endParaRPr>
                    </a:p>
                  </a:txBody>
                  <a:tcPr marT="91425" marB="91425" marR="91425" marL="91425"/>
                </a:tc>
              </a:tr>
              <a:tr h="381000">
                <a:tc>
                  <a:txBody>
                    <a:bodyPr/>
                    <a:lstStyle/>
                    <a:p>
                      <a:pPr indent="0" lvl="0" marL="0" rtl="0" algn="l">
                        <a:spcBef>
                          <a:spcPts val="0"/>
                        </a:spcBef>
                        <a:spcAft>
                          <a:spcPts val="0"/>
                        </a:spcAft>
                        <a:buNone/>
                      </a:pPr>
                      <a:r>
                        <a:rPr b="1" lang="en">
                          <a:solidFill>
                            <a:srgbClr val="FF0000"/>
                          </a:solidFill>
                        </a:rPr>
                        <a:t>Predi-alex-Avg</a:t>
                      </a:r>
                      <a:endParaRPr b="1">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solidFill>
                            <a:srgbClr val="FF0000"/>
                          </a:solidFill>
                        </a:rPr>
                        <a:t>0.92</a:t>
                      </a:r>
                      <a:endParaRPr b="1">
                        <a:solidFill>
                          <a:srgbClr val="FF0000"/>
                        </a:solidFill>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b="1" lang="en">
                          <a:solidFill>
                            <a:srgbClr val="FF0000"/>
                          </a:solidFill>
                        </a:rPr>
                        <a:t>0.92</a:t>
                      </a:r>
                      <a:endParaRPr b="1">
                        <a:solidFill>
                          <a:srgbClr val="FF0000"/>
                        </a:solidFill>
                      </a:endParaRPr>
                    </a:p>
                  </a:txBody>
                  <a:tcPr marT="91425" marB="91425" marR="91425" marL="91425"/>
                </a:tc>
                <a:tc>
                  <a:txBody>
                    <a:bodyPr/>
                    <a:lstStyle/>
                    <a:p>
                      <a:pPr indent="0" lvl="0" marL="0" rtl="0" algn="l">
                        <a:spcBef>
                          <a:spcPts val="0"/>
                        </a:spcBef>
                        <a:spcAft>
                          <a:spcPts val="0"/>
                        </a:spcAft>
                        <a:buNone/>
                      </a:pPr>
                      <a:r>
                        <a:rPr b="1" lang="en">
                          <a:solidFill>
                            <a:srgbClr val="FF0000"/>
                          </a:solidFill>
                        </a:rPr>
                        <a:t>0.93</a:t>
                      </a:r>
                      <a:endParaRPr b="1">
                        <a:solidFill>
                          <a:srgbClr val="FF0000"/>
                        </a:solidFill>
                      </a:endParaRPr>
                    </a:p>
                  </a:txBody>
                  <a:tcPr marT="91425" marB="91425" marR="91425" marL="91425"/>
                </a:tc>
                <a:tc>
                  <a:txBody>
                    <a:bodyPr/>
                    <a:lstStyle/>
                    <a:p>
                      <a:pPr indent="0" lvl="0" marL="0" rtl="0" algn="l">
                        <a:spcBef>
                          <a:spcPts val="0"/>
                        </a:spcBef>
                        <a:spcAft>
                          <a:spcPts val="0"/>
                        </a:spcAft>
                        <a:buNone/>
                      </a:pPr>
                      <a:r>
                        <a:rPr b="1" lang="en">
                          <a:solidFill>
                            <a:srgbClr val="FF0000"/>
                          </a:solidFill>
                        </a:rPr>
                        <a:t>0.92</a:t>
                      </a:r>
                      <a:endParaRPr b="1">
                        <a:solidFill>
                          <a:srgbClr val="FF0000"/>
                        </a:solidFill>
                      </a:endParaRPr>
                    </a:p>
                  </a:txBody>
                  <a:tcPr marT="91425" marB="91425" marR="91425" marL="9142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5"/>
          <p:cNvSpPr txBox="1"/>
          <p:nvPr>
            <p:ph type="title"/>
          </p:nvPr>
        </p:nvSpPr>
        <p:spPr>
          <a:xfrm>
            <a:off x="1075375" y="1642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A</a:t>
            </a:r>
            <a:r>
              <a:rPr lang="en"/>
              <a:t>nalytics</a:t>
            </a:r>
            <a:r>
              <a:rPr lang="en"/>
              <a:t> </a:t>
            </a:r>
            <a:endParaRPr/>
          </a:p>
        </p:txBody>
      </p:sp>
      <p:graphicFrame>
        <p:nvGraphicFramePr>
          <p:cNvPr id="131" name="Google Shape;131;p25"/>
          <p:cNvGraphicFramePr/>
          <p:nvPr/>
        </p:nvGraphicFramePr>
        <p:xfrm>
          <a:off x="789700" y="1197425"/>
          <a:ext cx="3000000" cy="3000000"/>
        </p:xfrm>
        <a:graphic>
          <a:graphicData uri="http://schemas.openxmlformats.org/drawingml/2006/table">
            <a:tbl>
              <a:tblPr>
                <a:noFill/>
                <a:tableStyleId>{5750CD19-66BE-4F6D-9A85-4ECC8B46E639}</a:tableStyleId>
              </a:tblPr>
              <a:tblGrid>
                <a:gridCol w="2192925"/>
                <a:gridCol w="2236300"/>
                <a:gridCol w="2214600"/>
              </a:tblGrid>
              <a:tr h="1185500">
                <a:tc>
                  <a:txBody>
                    <a:bodyPr/>
                    <a:lstStyle/>
                    <a:p>
                      <a:pPr indent="0" lvl="0" marL="0" rtl="0" algn="l">
                        <a:spcBef>
                          <a:spcPts val="0"/>
                        </a:spcBef>
                        <a:spcAft>
                          <a:spcPts val="0"/>
                        </a:spcAft>
                        <a:buNone/>
                      </a:pPr>
                      <a:r>
                        <a:rPr lang="en">
                          <a:solidFill>
                            <a:schemeClr val="dk1"/>
                          </a:solidFill>
                        </a:rPr>
                        <a:t>Prediction-AlexNet-Avg</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COVID</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Non-COVID</a:t>
                      </a:r>
                      <a:endParaRPr>
                        <a:solidFill>
                          <a:schemeClr val="dk1"/>
                        </a:solidFill>
                      </a:endParaRPr>
                    </a:p>
                  </a:txBody>
                  <a:tcPr marT="91425" marB="91425" marR="91425" marL="91425"/>
                </a:tc>
              </a:tr>
              <a:tr h="1181475">
                <a:tc>
                  <a:txBody>
                    <a:bodyPr/>
                    <a:lstStyle/>
                    <a:p>
                      <a:pPr indent="0" lvl="0" marL="0" rtl="0" algn="l">
                        <a:spcBef>
                          <a:spcPts val="0"/>
                        </a:spcBef>
                        <a:spcAft>
                          <a:spcPts val="0"/>
                        </a:spcAft>
                        <a:buNone/>
                      </a:pPr>
                      <a:r>
                        <a:rPr lang="en">
                          <a:solidFill>
                            <a:schemeClr val="dk1"/>
                          </a:solidFill>
                        </a:rPr>
                        <a:t>COVID</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8</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0</a:t>
                      </a:r>
                      <a:endParaRPr>
                        <a:solidFill>
                          <a:schemeClr val="dk1"/>
                        </a:solidFill>
                      </a:endParaRPr>
                    </a:p>
                  </a:txBody>
                  <a:tcPr marT="91425" marB="91425" marR="91425" marL="91425"/>
                </a:tc>
              </a:tr>
              <a:tr h="1181475">
                <a:tc>
                  <a:txBody>
                    <a:bodyPr/>
                    <a:lstStyle/>
                    <a:p>
                      <a:pPr indent="0" lvl="0" marL="0" rtl="0" algn="l">
                        <a:spcBef>
                          <a:spcPts val="0"/>
                        </a:spcBef>
                        <a:spcAft>
                          <a:spcPts val="0"/>
                        </a:spcAft>
                        <a:buNone/>
                      </a:pPr>
                      <a:r>
                        <a:rPr lang="en">
                          <a:solidFill>
                            <a:schemeClr val="dk1"/>
                          </a:solidFill>
                        </a:rPr>
                        <a:t>Non-COVID</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2</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1</a:t>
                      </a:r>
                      <a:r>
                        <a:rPr lang="en">
                          <a:solidFill>
                            <a:schemeClr val="dk1"/>
                          </a:solidFill>
                        </a:rPr>
                        <a:t>5</a:t>
                      </a:r>
                      <a:endParaRPr>
                        <a:solidFill>
                          <a:schemeClr val="dk1"/>
                        </a:solidFill>
                      </a:endParaRPr>
                    </a:p>
                  </a:txBody>
                  <a:tcPr marT="91425" marB="91425" marR="91425" marL="91425"/>
                </a:tc>
              </a:tr>
            </a:tbl>
          </a:graphicData>
        </a:graphic>
      </p:graphicFrame>
      <p:sp>
        <p:nvSpPr>
          <p:cNvPr id="132" name="Google Shape;132;p25"/>
          <p:cNvSpPr txBox="1"/>
          <p:nvPr/>
        </p:nvSpPr>
        <p:spPr>
          <a:xfrm>
            <a:off x="3807100" y="570550"/>
            <a:ext cx="19203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solidFill>
                  <a:schemeClr val="dk1"/>
                </a:solidFill>
              </a:rPr>
              <a:t>Predicted</a:t>
            </a:r>
            <a:r>
              <a:rPr lang="en">
                <a:solidFill>
                  <a:schemeClr val="dk1"/>
                </a:solidFill>
              </a:rPr>
              <a:t> </a:t>
            </a:r>
            <a:endParaRPr>
              <a:solidFill>
                <a:schemeClr val="dk1"/>
              </a:solidFill>
            </a:endParaRPr>
          </a:p>
        </p:txBody>
      </p:sp>
      <p:sp>
        <p:nvSpPr>
          <p:cNvPr id="133" name="Google Shape;133;p25"/>
          <p:cNvSpPr txBox="1"/>
          <p:nvPr/>
        </p:nvSpPr>
        <p:spPr>
          <a:xfrm rot="-5400000">
            <a:off x="-454675" y="2479800"/>
            <a:ext cx="16809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  </a:t>
            </a:r>
            <a:r>
              <a:rPr lang="en" sz="2500">
                <a:solidFill>
                  <a:schemeClr val="dk1"/>
                </a:solidFill>
              </a:rPr>
              <a:t> </a:t>
            </a:r>
            <a:r>
              <a:rPr lang="en" sz="2500">
                <a:solidFill>
                  <a:schemeClr val="dk1"/>
                </a:solidFill>
              </a:rPr>
              <a:t>True</a:t>
            </a:r>
            <a:endParaRPr sz="25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 </a:t>
            </a:r>
            <a:endParaRPr/>
          </a:p>
        </p:txBody>
      </p:sp>
      <p:sp>
        <p:nvSpPr>
          <p:cNvPr id="139" name="Google Shape;139;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336550" lvl="0" marL="457200" rtl="0" algn="l">
              <a:spcBef>
                <a:spcPts val="0"/>
              </a:spcBef>
              <a:spcAft>
                <a:spcPts val="0"/>
              </a:spcAft>
              <a:buSzPct val="100000"/>
              <a:buChar char="●"/>
            </a:pPr>
            <a:r>
              <a:rPr lang="en" sz="2000"/>
              <a:t>Multi-input is novel idea</a:t>
            </a:r>
            <a:endParaRPr sz="2000"/>
          </a:p>
          <a:p>
            <a:pPr indent="-336550" lvl="0" marL="457200" rtl="0" algn="l">
              <a:spcBef>
                <a:spcPts val="0"/>
              </a:spcBef>
              <a:spcAft>
                <a:spcPts val="0"/>
              </a:spcAft>
              <a:buSzPct val="100000"/>
              <a:buChar char="●"/>
            </a:pPr>
            <a:r>
              <a:rPr lang="en" sz="2000"/>
              <a:t>Patient by patient is important for future events</a:t>
            </a:r>
            <a:endParaRPr sz="2000"/>
          </a:p>
          <a:p>
            <a:pPr indent="-336550" lvl="0" marL="457200" rtl="0" algn="l">
              <a:spcBef>
                <a:spcPts val="0"/>
              </a:spcBef>
              <a:spcAft>
                <a:spcPts val="0"/>
              </a:spcAft>
              <a:buSzPct val="100000"/>
              <a:buChar char="●"/>
            </a:pPr>
            <a:r>
              <a:rPr lang="en" sz="2000"/>
              <a:t>Leaving information behind can result in not well rounded scores</a:t>
            </a:r>
            <a:endParaRPr sz="2000"/>
          </a:p>
          <a:p>
            <a:pPr indent="-336550" lvl="0" marL="457200" rtl="0" algn="l">
              <a:spcBef>
                <a:spcPts val="0"/>
              </a:spcBef>
              <a:spcAft>
                <a:spcPts val="0"/>
              </a:spcAft>
              <a:buSzPct val="100000"/>
              <a:buChar char="●"/>
            </a:pPr>
            <a:r>
              <a:rPr lang="en" sz="2000"/>
              <a:t>Future </a:t>
            </a:r>
            <a:r>
              <a:rPr lang="en" sz="2000"/>
              <a:t>endeavors</a:t>
            </a:r>
            <a:r>
              <a:rPr lang="en" sz="2000"/>
              <a:t> </a:t>
            </a:r>
            <a:endParaRPr sz="2000"/>
          </a:p>
          <a:p>
            <a:pPr indent="-336550" lvl="1" marL="914400" rtl="0" algn="l">
              <a:spcBef>
                <a:spcPts val="0"/>
              </a:spcBef>
              <a:spcAft>
                <a:spcPts val="0"/>
              </a:spcAft>
              <a:buSzPct val="100000"/>
              <a:buChar char="○"/>
            </a:pPr>
            <a:r>
              <a:rPr lang="en" sz="2000"/>
              <a:t>Working with more data</a:t>
            </a:r>
            <a:endParaRPr sz="2000"/>
          </a:p>
          <a:p>
            <a:pPr indent="-336550" lvl="1" marL="914400" rtl="0" algn="l">
              <a:spcBef>
                <a:spcPts val="0"/>
              </a:spcBef>
              <a:spcAft>
                <a:spcPts val="0"/>
              </a:spcAft>
              <a:buSzPct val="100000"/>
              <a:buChar char="○"/>
            </a:pPr>
            <a:r>
              <a:rPr lang="en" sz="2000"/>
              <a:t>Working with </a:t>
            </a:r>
            <a:r>
              <a:rPr lang="en" sz="2000"/>
              <a:t>different</a:t>
            </a:r>
            <a:r>
              <a:rPr lang="en" sz="2000"/>
              <a:t> models</a:t>
            </a:r>
            <a:endParaRPr sz="2000"/>
          </a:p>
          <a:p>
            <a:pPr indent="-336550" lvl="1" marL="914400" rtl="0" algn="l">
              <a:spcBef>
                <a:spcPts val="0"/>
              </a:spcBef>
              <a:spcAft>
                <a:spcPts val="0"/>
              </a:spcAft>
              <a:buSzPct val="100000"/>
              <a:buChar char="○"/>
            </a:pPr>
            <a:r>
              <a:rPr lang="en" sz="2000"/>
              <a:t>Multi-classification</a:t>
            </a:r>
            <a:endParaRPr sz="2000"/>
          </a:p>
          <a:p>
            <a:pPr indent="-336550" lvl="1" marL="914400" rtl="0" algn="l">
              <a:spcBef>
                <a:spcPts val="0"/>
              </a:spcBef>
              <a:spcAft>
                <a:spcPts val="0"/>
              </a:spcAft>
              <a:buSzPct val="100000"/>
              <a:buChar char="○"/>
            </a:pPr>
            <a:r>
              <a:rPr lang="en" sz="2000"/>
              <a:t>Different a</a:t>
            </a:r>
            <a:r>
              <a:rPr lang="en" sz="2000"/>
              <a:t>ggregation</a:t>
            </a:r>
            <a:r>
              <a:rPr lang="en" sz="2000"/>
              <a:t> methodology </a:t>
            </a:r>
            <a:endParaRPr sz="2000"/>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